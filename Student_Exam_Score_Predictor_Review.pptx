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17F70B-839C-4796-824D-E274F6F3E680}" v="20" dt="2026-09-10T05:06:2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itha.gaddempally@outlook.com" userId="06875100ddf83a31" providerId="LiveId" clId="{C3048804-7377-4EB7-B296-09A0EA42371C}"/>
    <pc:docChg chg="undo custSel modSld">
      <pc:chgData name="poojitha.gaddempally@outlook.com" userId="06875100ddf83a31" providerId="LiveId" clId="{C3048804-7377-4EB7-B296-09A0EA42371C}" dt="2026-09-10T05:12:44.999" v="205" actId="20577"/>
      <pc:docMkLst>
        <pc:docMk/>
      </pc:docMkLst>
      <pc:sldChg chg="modSp mod">
        <pc:chgData name="poojitha.gaddempally@outlook.com" userId="06875100ddf83a31" providerId="LiveId" clId="{C3048804-7377-4EB7-B296-09A0EA42371C}" dt="2026-09-10T04:57:20.106" v="12" actId="27636"/>
        <pc:sldMkLst>
          <pc:docMk/>
          <pc:sldMk cId="1843937772" sldId="257"/>
        </pc:sldMkLst>
        <pc:spChg chg="mod">
          <ac:chgData name="poojitha.gaddempally@outlook.com" userId="06875100ddf83a31" providerId="LiveId" clId="{C3048804-7377-4EB7-B296-09A0EA42371C}" dt="2026-09-10T04:57:20.106" v="12" actId="27636"/>
          <ac:spMkLst>
            <pc:docMk/>
            <pc:sldMk cId="1843937772" sldId="257"/>
            <ac:spMk id="900" creationId="{00000000-0000-0000-0000-000000000000}"/>
          </ac:spMkLst>
        </pc:spChg>
      </pc:sldChg>
      <pc:sldChg chg="modSp mod">
        <pc:chgData name="poojitha.gaddempally@outlook.com" userId="06875100ddf83a31" providerId="LiveId" clId="{C3048804-7377-4EB7-B296-09A0EA42371C}" dt="2026-09-10T04:58:20.297" v="19" actId="27636"/>
        <pc:sldMkLst>
          <pc:docMk/>
          <pc:sldMk cId="2065876014" sldId="258"/>
        </pc:sldMkLst>
        <pc:spChg chg="mod">
          <ac:chgData name="poojitha.gaddempally@outlook.com" userId="06875100ddf83a31" providerId="LiveId" clId="{C3048804-7377-4EB7-B296-09A0EA42371C}" dt="2026-09-10T04:58:20.297" v="19" actId="27636"/>
          <ac:spMkLst>
            <pc:docMk/>
            <pc:sldMk cId="2065876014" sldId="258"/>
            <ac:spMk id="900" creationId="{00000000-0000-0000-0000-000000000000}"/>
          </ac:spMkLst>
        </pc:spChg>
      </pc:sldChg>
      <pc:sldChg chg="modSp mod">
        <pc:chgData name="poojitha.gaddempally@outlook.com" userId="06875100ddf83a31" providerId="LiveId" clId="{C3048804-7377-4EB7-B296-09A0EA42371C}" dt="2026-09-10T04:59:25.236" v="30" actId="27636"/>
        <pc:sldMkLst>
          <pc:docMk/>
          <pc:sldMk cId="3524135319" sldId="259"/>
        </pc:sldMkLst>
        <pc:spChg chg="mod">
          <ac:chgData name="poojitha.gaddempally@outlook.com" userId="06875100ddf83a31" providerId="LiveId" clId="{C3048804-7377-4EB7-B296-09A0EA42371C}" dt="2026-09-10T04:59:25.236" v="30" actId="27636"/>
          <ac:spMkLst>
            <pc:docMk/>
            <pc:sldMk cId="3524135319" sldId="259"/>
            <ac:spMk id="900" creationId="{00000000-0000-0000-0000-000000000000}"/>
          </ac:spMkLst>
        </pc:spChg>
      </pc:sldChg>
      <pc:sldChg chg="modSp mod">
        <pc:chgData name="poojitha.gaddempally@outlook.com" userId="06875100ddf83a31" providerId="LiveId" clId="{C3048804-7377-4EB7-B296-09A0EA42371C}" dt="2026-09-10T05:12:26.467" v="203" actId="20577"/>
        <pc:sldMkLst>
          <pc:docMk/>
          <pc:sldMk cId="4118855268" sldId="260"/>
        </pc:sldMkLst>
        <pc:graphicFrameChg chg="modGraphic">
          <ac:chgData name="poojitha.gaddempally@outlook.com" userId="06875100ddf83a31" providerId="LiveId" clId="{C3048804-7377-4EB7-B296-09A0EA42371C}" dt="2026-09-10T05:12:26.467" v="203" actId="20577"/>
          <ac:graphicFrameMkLst>
            <pc:docMk/>
            <pc:sldMk cId="4118855268" sldId="260"/>
            <ac:graphicFrameMk id="950" creationId="{00000000-0000-0000-0000-000000000000}"/>
          </ac:graphicFrameMkLst>
        </pc:graphicFrameChg>
      </pc:sldChg>
      <pc:sldChg chg="modSp mod">
        <pc:chgData name="poojitha.gaddempally@outlook.com" userId="06875100ddf83a31" providerId="LiveId" clId="{C3048804-7377-4EB7-B296-09A0EA42371C}" dt="2026-09-10T05:12:44.999" v="205" actId="20577"/>
        <pc:sldMkLst>
          <pc:docMk/>
          <pc:sldMk cId="2247602601" sldId="262"/>
        </pc:sldMkLst>
        <pc:spChg chg="mod">
          <ac:chgData name="poojitha.gaddempally@outlook.com" userId="06875100ddf83a31" providerId="LiveId" clId="{C3048804-7377-4EB7-B296-09A0EA42371C}" dt="2026-09-10T05:12:44.999" v="205" actId="20577"/>
          <ac:spMkLst>
            <pc:docMk/>
            <pc:sldMk cId="2247602601" sldId="262"/>
            <ac:spMk id="17" creationId="{D25BC1A0-FDE4-1557-375E-6E0BD69BC77B}"/>
          </ac:spMkLst>
        </pc:spChg>
      </pc:sldChg>
      <pc:sldChg chg="modSp mod">
        <pc:chgData name="poojitha.gaddempally@outlook.com" userId="06875100ddf83a31" providerId="LiveId" clId="{C3048804-7377-4EB7-B296-09A0EA42371C}" dt="2026-09-10T05:09:55.618" v="193" actId="207"/>
        <pc:sldMkLst>
          <pc:docMk/>
          <pc:sldMk cId="3029277067" sldId="902"/>
        </pc:sldMkLst>
        <pc:spChg chg="mod">
          <ac:chgData name="poojitha.gaddempally@outlook.com" userId="06875100ddf83a31" providerId="LiveId" clId="{C3048804-7377-4EB7-B296-09A0EA42371C}" dt="2026-09-10T05:01:00.060" v="40" actId="20577"/>
          <ac:spMkLst>
            <pc:docMk/>
            <pc:sldMk cId="3029277067" sldId="902"/>
            <ac:spMk id="8" creationId="{A0FDE360-66C4-26CA-5DB9-8E99C2685BE0}"/>
          </ac:spMkLst>
        </pc:spChg>
        <pc:spChg chg="mod">
          <ac:chgData name="poojitha.gaddempally@outlook.com" userId="06875100ddf83a31" providerId="LiveId" clId="{C3048804-7377-4EB7-B296-09A0EA42371C}" dt="2026-09-10T05:01:14.449" v="59" actId="20577"/>
          <ac:spMkLst>
            <pc:docMk/>
            <pc:sldMk cId="3029277067" sldId="902"/>
            <ac:spMk id="9" creationId="{0F095753-622E-2BA7-9495-60F9B6E57FDB}"/>
          </ac:spMkLst>
        </pc:spChg>
        <pc:graphicFrameChg chg="mod modGraphic">
          <ac:chgData name="poojitha.gaddempally@outlook.com" userId="06875100ddf83a31" providerId="LiveId" clId="{C3048804-7377-4EB7-B296-09A0EA42371C}" dt="2026-09-10T05:09:55.618" v="193" actId="207"/>
          <ac:graphicFrameMkLst>
            <pc:docMk/>
            <pc:sldMk cId="3029277067" sldId="902"/>
            <ac:graphicFrameMk id="4" creationId="{AACD11AD-3AF5-B626-2B60-0567E4585BB7}"/>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2" qsCatId="3D" csTypeId="urn:microsoft.com/office/officeart/2005/8/colors/colorful1#2"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2">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10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10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10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10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10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10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10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10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10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10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10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10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11.09.2026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4150369491"/>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K. Yasaswi – 2420030053</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G. Poojitha – 2420030037</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 S. Anjana - 2420030499</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947167561"/>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 N. Sunanda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11.09.2026</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DS Project Review-2</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Student Exam Score Predictor</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Data Science </a:t>
            </a:r>
            <a:r>
              <a:rPr lang="en-IN" sz="3200" b="1">
                <a:latin typeface="Times New Roman" panose="02020603050405020304" pitchFamily="18" charset="0"/>
                <a:cs typeface="Times New Roman" panose="02020603050405020304" pitchFamily="18" charset="0"/>
              </a:rPr>
              <a:t>Project Review</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449999"/>
            <a:ext cx="10200000" cy="4803317"/>
          </a:xfrm>
          <a:prstGeom prst="rect">
            <a:avLst/>
          </a:prstGeom>
          <a:noFill/>
        </p:spPr>
        <p:txBody>
          <a:bodyPr wrap="square">
            <a:normAutofit fontScale="92500" lnSpcReduction="20000"/>
          </a:bodyPr>
          <a:lstStyle/>
          <a:p>
            <a:r>
              <a:rPr lang="en-US" dirty="0"/>
              <a:t>Students' academic performance is influenced by various factors such as </a:t>
            </a:r>
            <a:r>
              <a:rPr lang="en-US" b="1" dirty="0"/>
              <a:t>daily study hours, class attendance, previous academic performance, and personal and demographic characteristics</a:t>
            </a:r>
            <a:r>
              <a:rPr lang="en-US" dirty="0"/>
              <a:t>. However, these factors are often considered separately, making it difficult to understand their combined impact on a student's examination performance. In most cases, students become aware of their actual performance only after the examination, which limits the opportunity to identify weaknesses and take corrective measures beforehand. </a:t>
            </a:r>
          </a:p>
          <a:p>
            <a:endParaRPr lang="en-US" dirty="0"/>
          </a:p>
          <a:p>
            <a:r>
              <a:rPr lang="en-US" dirty="0"/>
              <a:t>There is therefore a need for a </a:t>
            </a:r>
            <a:r>
              <a:rPr lang="en-US" b="1" dirty="0"/>
              <a:t>data-driven system that can analyze multiple student-related factors together and predict examination performance in advance</a:t>
            </a:r>
            <a:r>
              <a:rPr lang="en-US" dirty="0"/>
              <a:t>. The proposed Student Exam Score Predictor aims to address this problem by collecting relevant academic and demographic data, preprocessing the data to handle missing or inconsistent values, and performing exploratory data analysis to identify relationships between different factors and exam scores. Machine learning regression algorithms such as </a:t>
            </a:r>
            <a:r>
              <a:rPr lang="en-US" b="1" dirty="0"/>
              <a:t>Linear Regression and Random Forest Regression</a:t>
            </a:r>
            <a:r>
              <a:rPr lang="en-US" dirty="0"/>
              <a:t> can then be used to learn patterns from historical data and estimate a student's expected examination score. </a:t>
            </a:r>
          </a:p>
          <a:p>
            <a:endParaRPr lang="en-US" dirty="0"/>
          </a:p>
          <a:p>
            <a:r>
              <a:rPr lang="en-US" dirty="0"/>
              <a:t>The proposed system is intended to provide useful insights for both </a:t>
            </a:r>
            <a:r>
              <a:rPr lang="en-US" b="1" dirty="0"/>
              <a:t>students and educators</a:t>
            </a:r>
            <a:r>
              <a:rPr lang="en-US" dirty="0"/>
              <a:t>. Students can enter their study and attendance details to obtain a predicted exam score and understand how their academic habits may influence their performance. Educators can use the predictions to identify students who may be at risk of underperforming and provide timely academic guidance and support. The effectiveness of the prediction models can be evaluated using </a:t>
            </a:r>
            <a:r>
              <a:rPr lang="en-US" b="1" dirty="0"/>
              <a:t>Mean Squared Error (MSE) and R² score</a:t>
            </a:r>
            <a:r>
              <a:rPr lang="en-US" dirty="0"/>
              <a:t>, helping select a reliable model for the system. </a:t>
            </a:r>
          </a:p>
          <a:p>
            <a:endParaRPr lang="en-US" sz="1800" dirty="0"/>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500000"/>
            <a:ext cx="10200000" cy="3900000"/>
          </a:xfrm>
          <a:prstGeom prst="rect">
            <a:avLst/>
          </a:prstGeom>
          <a:noFill/>
        </p:spPr>
        <p:txBody>
          <a:bodyPr wrap="square">
            <a:normAutofit/>
          </a:bodyPr>
          <a:lstStyle/>
          <a:p>
            <a:pPr marL="342900" indent="-342900">
              <a:buFont typeface="Arial" panose="020B0604020202020204" pitchFamily="34" charset="0"/>
              <a:buChar char="•"/>
            </a:pPr>
            <a:r>
              <a:rPr lang="en-US" sz="1700" dirty="0"/>
              <a:t>Collect a dataset containing daily study hours, attendance percentage, gender, parental background, and past academic performance.</a:t>
            </a:r>
          </a:p>
          <a:p>
            <a:pPr marL="342900" indent="-342900">
              <a:buFont typeface="Arial" panose="020B0604020202020204" pitchFamily="34" charset="0"/>
              <a:buChar char="•"/>
            </a:pPr>
            <a:r>
              <a:rPr lang="en-US" sz="1700" dirty="0"/>
              <a:t>Clean the raw data to handle missing or inconsistent values, and convert categorical attributes into numerical form suitable for machine learning.</a:t>
            </a:r>
          </a:p>
          <a:p>
            <a:pPr marL="342900" indent="-342900">
              <a:buFont typeface="Arial" panose="020B0604020202020204" pitchFamily="34" charset="0"/>
              <a:buChar char="•"/>
            </a:pPr>
            <a:r>
              <a:rPr lang="en-US" sz="1700" dirty="0"/>
              <a:t>Perform exploratory data analysis (EDA) to identify which features have the strongest influence on the final exam score.</a:t>
            </a:r>
          </a:p>
          <a:p>
            <a:pPr marL="342900" indent="-342900">
              <a:buFont typeface="Arial" panose="020B0604020202020204" pitchFamily="34" charset="0"/>
              <a:buChar char="•"/>
            </a:pPr>
            <a:r>
              <a:rPr lang="en-US" sz="1700" dirty="0"/>
              <a:t>Train and compare regression algorithms — Linear Regression and Random Forest Regression — to model the relationship between input features and exam scores.</a:t>
            </a:r>
          </a:p>
          <a:p>
            <a:pPr marL="342900" indent="-342900">
              <a:buFont typeface="Arial" panose="020B0604020202020204" pitchFamily="34" charset="0"/>
              <a:buChar char="•"/>
            </a:pPr>
            <a:r>
              <a:rPr lang="en-US" sz="1700" dirty="0"/>
              <a:t>Evaluate each model using Mean Squared Error (MSE) and R-squared (R²) score, and select the most accurate and reliable model.</a:t>
            </a:r>
          </a:p>
          <a:p>
            <a:pPr marL="342900" indent="-342900">
              <a:buFont typeface="Arial" panose="020B0604020202020204" pitchFamily="34" charset="0"/>
              <a:buChar char="•"/>
            </a:pPr>
            <a:r>
              <a:rPr lang="en-US" sz="1700" dirty="0"/>
              <a:t>Design a final system that takes a student’s study and attendance details as input and returns a predicted exam score as output.</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788739476"/>
              </p:ext>
            </p:extLst>
          </p:nvPr>
        </p:nvGraphicFramePr>
        <p:xfrm>
          <a:off x="274646" y="689466"/>
          <a:ext cx="11642705" cy="535615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US" sz="1400" dirty="0">
                          <a:solidFill>
                            <a:srgbClr val="FF0000"/>
                          </a:solidFill>
                          <a:latin typeface="Times New Roman" panose="02020603050405020304" pitchFamily="18" charset="0"/>
                          <a:cs typeface="Times New Roman" panose="02020603050405020304" pitchFamily="18" charset="0"/>
                        </a:rPr>
                        <a:t>Huang &amp; Fang (2013)</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solidFill>
                            <a:srgbClr val="FF0000"/>
                          </a:solidFill>
                          <a:latin typeface="Times New Roman" panose="02020603050405020304" pitchFamily="18" charset="0"/>
                          <a:cs typeface="Times New Roman" panose="02020603050405020304" pitchFamily="18" charset="0"/>
                        </a:rPr>
                        <a:t>Predicting Student Academic Performance in an Engineering Dynamics Course</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Compared </a:t>
                      </a:r>
                      <a:r>
                        <a:rPr lang="en-US" sz="1400" b="1" dirty="0">
                          <a:solidFill>
                            <a:srgbClr val="FF0000"/>
                          </a:solidFill>
                          <a:latin typeface="Times New Roman" panose="02020603050405020304" pitchFamily="18" charset="0"/>
                          <a:cs typeface="Times New Roman" panose="02020603050405020304" pitchFamily="18" charset="0"/>
                        </a:rPr>
                        <a:t>Multiple Linear </a:t>
                      </a:r>
                      <a:r>
                        <a:rPr lang="en-US" sz="1400" b="1" dirty="0" err="1">
                          <a:solidFill>
                            <a:srgbClr val="FF0000"/>
                          </a:solidFill>
                          <a:latin typeface="Times New Roman" panose="02020603050405020304" pitchFamily="18" charset="0"/>
                          <a:cs typeface="Times New Roman" panose="02020603050405020304" pitchFamily="18" charset="0"/>
                        </a:rPr>
                        <a:t>Regression,Multilayer</a:t>
                      </a:r>
                      <a:r>
                        <a:rPr lang="en-US" sz="1400" b="1" dirty="0">
                          <a:solidFill>
                            <a:srgbClr val="FF0000"/>
                          </a:solidFill>
                          <a:latin typeface="Times New Roman" panose="02020603050405020304" pitchFamily="18" charset="0"/>
                          <a:cs typeface="Times New Roman" panose="02020603050405020304" pitchFamily="18" charset="0"/>
                        </a:rPr>
                        <a:t> Perceptron, Radial Basis Function Network, and Support Vector Machine</a:t>
                      </a:r>
                      <a:r>
                        <a:rPr lang="en-US" sz="1400" dirty="0">
                          <a:solidFill>
                            <a:srgbClr val="FF0000"/>
                          </a:solidFill>
                          <a:latin typeface="Times New Roman" panose="02020603050405020304" pitchFamily="18" charset="0"/>
                          <a:cs typeface="Times New Roman" panose="02020603050405020304" pitchFamily="18" charset="0"/>
                        </a:rPr>
                        <a:t> models for predicting student academic performance. </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Demonstrated that machine-learning and mathematical prediction models can be used to estimate student academic performance before final outcomes are available.</a:t>
                      </a:r>
                      <a:endParaRPr lang="en-IN" sz="1400" b="0" i="0" kern="1200" dirty="0">
                        <a:solidFill>
                          <a:srgbClr val="FF0000"/>
                        </a:solidFill>
                        <a:effectLst/>
                        <a:latin typeface="Times New Roman" panose="02020603050405020304" pitchFamily="18" charset="0"/>
                        <a:ea typeface="+mn-ea"/>
                        <a:cs typeface="Times New Roman" panose="02020603050405020304" pitchFamily="18" charset="0"/>
                      </a:endParaRP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The study focuses on a specific engineering course. Future work can consider </a:t>
                      </a:r>
                      <a:r>
                        <a:rPr lang="en-US" sz="1400" b="1" dirty="0">
                          <a:solidFill>
                            <a:srgbClr val="FF0000"/>
                          </a:solidFill>
                          <a:latin typeface="Times New Roman" panose="02020603050405020304" pitchFamily="18" charset="0"/>
                          <a:cs typeface="Times New Roman" panose="02020603050405020304" pitchFamily="18" charset="0"/>
                        </a:rPr>
                        <a:t>more diverse student attributes and datasets</a:t>
                      </a:r>
                      <a:r>
                        <a:rPr lang="en-US" sz="1400" dirty="0">
                          <a:solidFill>
                            <a:srgbClr val="FF0000"/>
                          </a:solidFill>
                          <a:latin typeface="Times New Roman" panose="02020603050405020304" pitchFamily="18" charset="0"/>
                          <a:cs typeface="Times New Roman" panose="02020603050405020304" pitchFamily="18" charset="0"/>
                        </a:rPr>
                        <a:t> to improve generalization.</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US" sz="1400" dirty="0" err="1">
                          <a:solidFill>
                            <a:schemeClr val="tx1"/>
                          </a:solidFill>
                          <a:latin typeface="Times New Roman" panose="02020603050405020304" pitchFamily="18" charset="0"/>
                          <a:cs typeface="Times New Roman" panose="02020603050405020304" pitchFamily="18" charset="0"/>
                        </a:rPr>
                        <a:t>Wakelam</a:t>
                      </a:r>
                      <a:r>
                        <a:rPr lang="en-US" sz="1400" dirty="0">
                          <a:solidFill>
                            <a:schemeClr val="tx1"/>
                          </a:solidFill>
                          <a:latin typeface="Times New Roman" panose="02020603050405020304" pitchFamily="18" charset="0"/>
                          <a:cs typeface="Times New Roman" panose="02020603050405020304" pitchFamily="18" charset="0"/>
                        </a:rPr>
                        <a:t> et al. (2020)</a:t>
                      </a:r>
                      <a:endParaRPr lang="en-IN" sz="1400" b="0"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solidFill>
                            <a:schemeClr val="tx1"/>
                          </a:solidFill>
                          <a:latin typeface="Times New Roman" panose="02020603050405020304" pitchFamily="18" charset="0"/>
                          <a:cs typeface="Times New Roman" panose="02020603050405020304" pitchFamily="18" charset="0"/>
                        </a:rPr>
                        <a:t>The Potential for Student Performance Prediction in Small Cohorts with Minimal Available Attributes</a:t>
                      </a:r>
                      <a:r>
                        <a:rPr lang="en-US" sz="1400" dirty="0">
                          <a:solidFill>
                            <a:schemeClr val="tx1"/>
                          </a:solidFill>
                          <a:latin typeface="Times New Roman" panose="02020603050405020304" pitchFamily="18" charset="0"/>
                          <a:cs typeface="Times New Roman" panose="02020603050405020304" pitchFamily="18" charset="0"/>
                        </a:rPr>
                        <a:t> — British Journal of Educational Technology, 2020</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Used </a:t>
                      </a:r>
                      <a:r>
                        <a:rPr lang="en-US" sz="1400" b="1" dirty="0">
                          <a:solidFill>
                            <a:schemeClr val="tx1"/>
                          </a:solidFill>
                          <a:latin typeface="Times New Roman" panose="02020603050405020304" pitchFamily="18" charset="0"/>
                          <a:cs typeface="Times New Roman" panose="02020603050405020304" pitchFamily="18" charset="0"/>
                        </a:rPr>
                        <a:t>Decision Tree Regression, KNN, and Random Forest</a:t>
                      </a:r>
                      <a:r>
                        <a:rPr lang="en-US" sz="1400" dirty="0">
                          <a:solidFill>
                            <a:schemeClr val="tx1"/>
                          </a:solidFill>
                          <a:latin typeface="Times New Roman" panose="02020603050405020304" pitchFamily="18" charset="0"/>
                          <a:cs typeface="Times New Roman" panose="02020603050405020304" pitchFamily="18" charset="0"/>
                        </a:rPr>
                        <a:t> to predict assessment marks using attendance, VLE access, and intermediate assessment results</a:t>
                      </a:r>
                      <a:r>
                        <a:rPr lang="en-US" sz="1400" dirty="0">
                          <a:solidFill>
                            <a:srgbClr val="FF0000"/>
                          </a:solidFill>
                          <a:latin typeface="Times New Roman" panose="02020603050405020304" pitchFamily="18" charset="0"/>
                          <a:cs typeface="Times New Roman" panose="02020603050405020304" pitchFamily="18" charset="0"/>
                        </a:rPr>
                        <a: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Shows that student performance can be predicted using a relatively small number of readily available academic and behavioral attributes.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The approach uses a limited set of attributes and focuses on small cohorts. Future systems can incorporate </a:t>
                      </a:r>
                      <a:r>
                        <a:rPr lang="en-US" sz="1400" b="1" dirty="0">
                          <a:solidFill>
                            <a:schemeClr val="tx1"/>
                          </a:solidFill>
                          <a:latin typeface="Times New Roman" panose="02020603050405020304" pitchFamily="18" charset="0"/>
                          <a:cs typeface="Times New Roman" panose="02020603050405020304" pitchFamily="18" charset="0"/>
                        </a:rPr>
                        <a:t>study habits, demographic factors, previous performance, and other relevant features</a:t>
                      </a:r>
                      <a:r>
                        <a:rPr lang="en-US" sz="1400" dirty="0">
                          <a:solidFill>
                            <a:schemeClr val="tx1"/>
                          </a:solidFill>
                          <a:latin typeface="Times New Roman" panose="02020603050405020304" pitchFamily="18" charset="0"/>
                          <a:cs typeface="Times New Roman" panose="02020603050405020304" pitchFamily="18" charset="0"/>
                        </a:rPr>
                        <a:t>.</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US" sz="1400" dirty="0" err="1">
                          <a:solidFill>
                            <a:srgbClr val="FF0000"/>
                          </a:solidFill>
                          <a:latin typeface="Times New Roman" panose="02020603050405020304" pitchFamily="18" charset="0"/>
                          <a:cs typeface="Times New Roman" panose="02020603050405020304" pitchFamily="18" charset="0"/>
                        </a:rPr>
                        <a:t>Mashagba</a:t>
                      </a:r>
                      <a:r>
                        <a:rPr lang="en-US" sz="1400" dirty="0">
                          <a:solidFill>
                            <a:srgbClr val="FF0000"/>
                          </a:solidFill>
                          <a:latin typeface="Times New Roman" panose="02020603050405020304" pitchFamily="18" charset="0"/>
                          <a:cs typeface="Times New Roman" panose="02020603050405020304" pitchFamily="18" charset="0"/>
                        </a:rPr>
                        <a:t> et al. (2022</a:t>
                      </a:r>
                      <a:r>
                        <a:rPr lang="en-US" sz="1400" dirty="0">
                          <a:solidFill>
                            <a:srgbClr val="FF0000"/>
                          </a:solidFill>
                        </a:rPr>
                        <a:t>)</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solidFill>
                            <a:srgbClr val="FF0000"/>
                          </a:solidFill>
                          <a:latin typeface="Times New Roman" panose="02020603050405020304" pitchFamily="18" charset="0"/>
                          <a:cs typeface="Times New Roman" panose="02020603050405020304" pitchFamily="18" charset="0"/>
                        </a:rPr>
                        <a:t>Predicting Student Performance to Improve Academic Advising Using the Random Forest Algorithm</a:t>
                      </a:r>
                      <a:r>
                        <a:rPr lang="en-US" sz="1400" dirty="0">
                          <a:solidFill>
                            <a:srgbClr val="FF0000"/>
                          </a:solidFill>
                          <a:latin typeface="Times New Roman" panose="02020603050405020304" pitchFamily="18" charset="0"/>
                          <a:cs typeface="Times New Roman" panose="02020603050405020304" pitchFamily="18" charset="0"/>
                        </a:rPr>
                        <a:t> — International Journal of Distance Education Technologies, 2022</a:t>
                      </a:r>
                      <a:endParaRPr lang="en-IN" sz="1400" b="1"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Developed a </a:t>
                      </a:r>
                      <a:r>
                        <a:rPr lang="en-US" sz="1400" b="1" dirty="0">
                          <a:solidFill>
                            <a:srgbClr val="FF0000"/>
                          </a:solidFill>
                          <a:latin typeface="Times New Roman" panose="02020603050405020304" pitchFamily="18" charset="0"/>
                          <a:cs typeface="Times New Roman" panose="02020603050405020304" pitchFamily="18" charset="0"/>
                        </a:rPr>
                        <a:t>Random Forest-based CGPA prediction model</a:t>
                      </a:r>
                      <a:r>
                        <a:rPr lang="en-US" sz="1400" dirty="0">
                          <a:solidFill>
                            <a:srgbClr val="FF0000"/>
                          </a:solidFill>
                          <a:latin typeface="Times New Roman" panose="02020603050405020304" pitchFamily="18" charset="0"/>
                          <a:cs typeface="Times New Roman" panose="02020603050405020304" pitchFamily="18" charset="0"/>
                        </a:rPr>
                        <a:t> using students' high-school average and second- and third-year course grades</a:t>
                      </a:r>
                      <a:r>
                        <a:rPr lang="en-US" sz="1400" dirty="0">
                          <a:solidFill>
                            <a:srgbClr val="FF0000"/>
                          </a:solidFill>
                        </a:rPr>
                        <a:t>.</a:t>
                      </a:r>
                      <a:endParaRPr lang="en-US" sz="1400" b="0" u="none" kern="1200" dirty="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The model can predict academic performance and help academic advisors identify students who may require remedial support.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solidFill>
                            <a:srgbClr val="FF0000"/>
                          </a:solidFill>
                          <a:latin typeface="Times New Roman" panose="02020603050405020304" pitchFamily="18" charset="0"/>
                          <a:cs typeface="Times New Roman" panose="02020603050405020304" pitchFamily="18" charset="0"/>
                        </a:rPr>
                        <a:t>The model mainly relies on previous academic grades. Future work can incorporate </a:t>
                      </a:r>
                      <a:r>
                        <a:rPr lang="en-US" sz="1400" b="1" dirty="0">
                          <a:solidFill>
                            <a:srgbClr val="FF0000"/>
                          </a:solidFill>
                          <a:latin typeface="Times New Roman" panose="02020603050405020304" pitchFamily="18" charset="0"/>
                          <a:cs typeface="Times New Roman" panose="02020603050405020304" pitchFamily="18" charset="0"/>
                        </a:rPr>
                        <a:t>behavioral, attendance, study-time, and demographic factors</a:t>
                      </a:r>
                      <a:r>
                        <a:rPr lang="en-US" sz="1400" dirty="0">
                          <a:solidFill>
                            <a:srgbClr val="FF0000"/>
                          </a:solidFill>
                          <a:latin typeface="Times New Roman" panose="02020603050405020304" pitchFamily="18" charset="0"/>
                          <a:cs typeface="Times New Roman" panose="02020603050405020304" pitchFamily="18" charset="0"/>
                        </a:rPr>
                        <a:t> for more comprehensive prediction.</a:t>
                      </a:r>
                      <a:endParaRPr lang="en-US" sz="1400" b="1"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r>
              <a:rPr lang="en-IN" dirty="0"/>
              <a:t>11.09.2026</a:t>
            </a:r>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dirty="0"/>
              <a:t>DS Project Review-2</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504335"/>
            <a:ext cx="10200000" cy="4444181"/>
          </a:xfrm>
          <a:prstGeom prst="rect">
            <a:avLst/>
          </a:prstGeom>
          <a:noFill/>
        </p:spPr>
        <p:txBody>
          <a:bodyPr wrap="square">
            <a:normAutofit/>
          </a:bodyPr>
          <a:lstStyle/>
          <a:p>
            <a:r>
              <a:rPr lang="en-US" dirty="0"/>
              <a:t>Although student performance depends on multiple factors, these factors are </a:t>
            </a:r>
            <a:r>
              <a:rPr lang="en-US" b="1" dirty="0"/>
              <a:t>rarely analyzed together in a structured and predictive manner</a:t>
            </a:r>
            <a:r>
              <a:rPr lang="en-US" dirty="0"/>
              <a:t>. </a:t>
            </a:r>
          </a:p>
          <a:p>
            <a:r>
              <a:rPr lang="en-US" dirty="0"/>
              <a:t>The major gaps identified are:</a:t>
            </a:r>
          </a:p>
          <a:p>
            <a:pPr lvl="0"/>
            <a:r>
              <a:rPr lang="en-US" b="1" dirty="0"/>
              <a:t>Lack of early prediction:</a:t>
            </a:r>
            <a:r>
              <a:rPr lang="en-US" dirty="0"/>
              <a:t> Students generally know their performance only after examinations, rather than receiving an estimate beforehand. </a:t>
            </a:r>
          </a:p>
          <a:p>
            <a:pPr lvl="0"/>
            <a:r>
              <a:rPr lang="en-US" b="1" dirty="0"/>
              <a:t>Limited use of multiple factors:</a:t>
            </a:r>
            <a:r>
              <a:rPr lang="en-US" dirty="0"/>
              <a:t> Study hours, attendance, previous performance, and demographic information are often not considered together. </a:t>
            </a:r>
          </a:p>
          <a:p>
            <a:pPr lvl="0"/>
            <a:r>
              <a:rPr lang="en-US" b="1" dirty="0"/>
              <a:t>Reactive academic support:</a:t>
            </a:r>
            <a:r>
              <a:rPr lang="en-US" dirty="0"/>
              <a:t> Educators may identify weak students only after poor examination results. </a:t>
            </a:r>
          </a:p>
          <a:p>
            <a:pPr lvl="0"/>
            <a:r>
              <a:rPr lang="en-US" b="1" dirty="0"/>
              <a:t>Lack of personalized insights:</a:t>
            </a:r>
            <a:r>
              <a:rPr lang="en-US" dirty="0"/>
              <a:t> Existing academic evaluation mainly focuses on marks rather than understanding the factors contributing to those marks. </a:t>
            </a:r>
          </a:p>
          <a:p>
            <a:pPr lvl="0"/>
            <a:r>
              <a:rPr lang="en-US" b="1" dirty="0"/>
              <a:t>Insufficient data-driven decision making:</a:t>
            </a:r>
            <a:r>
              <a:rPr lang="en-US" dirty="0"/>
              <a:t> Academic performance data can contain useful patterns, but these patterns are not always converted into predictive insights. </a:t>
            </a:r>
          </a:p>
          <a:p>
            <a:pPr lvl="0"/>
            <a:r>
              <a:rPr lang="en-US" b="1" dirty="0"/>
              <a:t>Need for model comparison:</a:t>
            </a:r>
            <a:r>
              <a:rPr lang="en-US" dirty="0"/>
              <a:t> Different regression algorithms may produce different prediction accuracy, creating a need to evaluate and select the most reliable model.</a:t>
            </a:r>
          </a:p>
          <a:p>
            <a:pPr marL="342900" indent="-342900">
              <a:buFont typeface="Arial" panose="020B0604020202020204" pitchFamily="34" charset="0"/>
              <a:buChar char="•"/>
            </a:pPr>
            <a:endParaRPr lang="en-US" sz="1800" dirty="0"/>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376515"/>
            <a:ext cx="10200000" cy="4709653"/>
          </a:xfrm>
          <a:prstGeom prst="rect">
            <a:avLst/>
          </a:prstGeom>
          <a:noFill/>
        </p:spPr>
        <p:txBody>
          <a:bodyPr wrap="square">
            <a:normAutofit fontScale="92500" lnSpcReduction="20000"/>
          </a:bodyPr>
          <a:lstStyle/>
          <a:p>
            <a:r>
              <a:rPr lang="en-US" b="1" dirty="0"/>
              <a:t>Innovation</a:t>
            </a:r>
            <a:endParaRPr lang="en-US" dirty="0"/>
          </a:p>
          <a:p>
            <a:pPr lvl="0"/>
            <a:r>
              <a:rPr lang="en-US" dirty="0"/>
              <a:t>Combines </a:t>
            </a:r>
            <a:r>
              <a:rPr lang="en-US" b="1" dirty="0"/>
              <a:t>academic, attendance, study-related, and demographic factors</a:t>
            </a:r>
            <a:r>
              <a:rPr lang="en-US" dirty="0"/>
              <a:t> to predict exam performance instead of relying only on previous marks. </a:t>
            </a:r>
          </a:p>
          <a:p>
            <a:pPr lvl="0"/>
            <a:r>
              <a:rPr lang="en-US" dirty="0"/>
              <a:t>Uses machine learning regression techniques to transform student data into predictive academic insights. </a:t>
            </a:r>
          </a:p>
          <a:p>
            <a:pPr lvl="0"/>
            <a:r>
              <a:rPr lang="en-US" dirty="0"/>
              <a:t>Compares multiple regression models to select a more reliable prediction approach. </a:t>
            </a:r>
          </a:p>
          <a:p>
            <a:pPr lvl="0"/>
            <a:endParaRPr lang="en-US" dirty="0"/>
          </a:p>
          <a:p>
            <a:r>
              <a:rPr lang="en-US" b="1" dirty="0"/>
              <a:t>Creativity</a:t>
            </a:r>
            <a:endParaRPr lang="en-US" dirty="0"/>
          </a:p>
          <a:p>
            <a:pPr lvl="0"/>
            <a:r>
              <a:rPr lang="en-US" dirty="0"/>
              <a:t>Provides a simple system where students can enter their study and attendance details and receive an </a:t>
            </a:r>
            <a:r>
              <a:rPr lang="en-US" b="1" dirty="0"/>
              <a:t>estimated exam score</a:t>
            </a:r>
            <a:r>
              <a:rPr lang="en-US" dirty="0"/>
              <a:t>. </a:t>
            </a:r>
          </a:p>
          <a:p>
            <a:pPr lvl="0"/>
            <a:r>
              <a:rPr lang="en-US" dirty="0"/>
              <a:t>Converts complex student-performance data into an easily understandable prediction. </a:t>
            </a:r>
          </a:p>
          <a:p>
            <a:pPr lvl="0"/>
            <a:r>
              <a:rPr lang="en-US" dirty="0"/>
              <a:t>Can encourage students to identify how changes in their study habits or attendance may influence their expected performance. </a:t>
            </a:r>
          </a:p>
          <a:p>
            <a:pPr lvl="0"/>
            <a:endParaRPr lang="en-US" dirty="0"/>
          </a:p>
          <a:p>
            <a:r>
              <a:rPr lang="en-US" b="1" dirty="0"/>
              <a:t>Novelty</a:t>
            </a:r>
            <a:endParaRPr lang="en-US" dirty="0"/>
          </a:p>
          <a:p>
            <a:pPr lvl="0"/>
            <a:r>
              <a:rPr lang="en-US" dirty="0"/>
              <a:t>The project's novelty lies in creating a </a:t>
            </a:r>
            <a:r>
              <a:rPr lang="en-US" b="1" dirty="0"/>
              <a:t>data-driven early prediction approach</a:t>
            </a:r>
            <a:r>
              <a:rPr lang="en-US" dirty="0"/>
              <a:t> that considers several student-related factors together. </a:t>
            </a:r>
          </a:p>
          <a:p>
            <a:pPr lvl="0"/>
            <a:r>
              <a:rPr lang="en-US" dirty="0"/>
              <a:t>Instead of merely recording or analyzing past marks, the system attempts to </a:t>
            </a:r>
            <a:r>
              <a:rPr lang="en-US" b="1" dirty="0"/>
              <a:t>predict future examination performance</a:t>
            </a:r>
            <a:r>
              <a:rPr lang="en-US" dirty="0"/>
              <a:t>. </a:t>
            </a:r>
          </a:p>
          <a:p>
            <a:pPr lvl="0"/>
            <a:r>
              <a:rPr lang="en-US" dirty="0"/>
              <a:t>The prediction can support both sides of the academic ecosystem: students can use it for self-improvement, while educators can use it to identify students who may need timely intervention.</a:t>
            </a:r>
          </a:p>
          <a:p>
            <a:pPr marL="342900" indent="-342900">
              <a:buFont typeface="Arial" panose="020B0604020202020204" pitchFamily="34" charset="0"/>
              <a:buChar char="•"/>
            </a:pPr>
            <a:endParaRPr lang="en-US" sz="1800" dirty="0"/>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990600" y="1743891"/>
            <a:ext cx="10200000" cy="600000"/>
          </a:xfrm>
          <a:prstGeom prst="rect">
            <a:avLst/>
          </a:prstGeom>
          <a:noFill/>
        </p:spPr>
        <p:txBody>
          <a:bodyPr wrap="square" rtlCol="0">
            <a:normAutofit/>
          </a:bodyPr>
          <a:lstStyle/>
          <a:p>
            <a:r>
              <a:rPr lang="en-US" sz="1600" b="1" dirty="0"/>
              <a:t>The project is feasible with freely available academic datasets and standard regression libraries (scikit-learn); the plan below breaks the work into sequential phases.</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950" name="PlanTable"/>
          <p:cNvGraphicFramePr>
            <a:graphicFrameLocks noGrp="1"/>
          </p:cNvGraphicFramePr>
          <p:nvPr>
            <p:extLst>
              <p:ext uri="{D42A27DB-BD31-4B8C-83A1-F6EECF244321}">
                <p14:modId xmlns:p14="http://schemas.microsoft.com/office/powerpoint/2010/main" val="3593768285"/>
              </p:ext>
            </p:extLst>
          </p:nvPr>
        </p:nvGraphicFramePr>
        <p:xfrm>
          <a:off x="990600" y="2550000"/>
          <a:ext cx="10200000" cy="2620000"/>
        </p:xfrm>
        <a:graphic>
          <a:graphicData uri="http://schemas.openxmlformats.org/drawingml/2006/table">
            <a:tbl>
              <a:tblPr firstRow="1" bandRow="1">
                <a:tableStyleId>{5940675A-B579-460E-94D1-54222C63F5DA}</a:tableStyleId>
              </a:tblPr>
              <a:tblGrid>
                <a:gridCol w="1700000">
                  <a:extLst>
                    <a:ext uri="{9D8B030D-6E8A-4147-A177-3AD203B41FA5}">
                      <a16:colId xmlns:a16="http://schemas.microsoft.com/office/drawing/2014/main" val="20000"/>
                    </a:ext>
                  </a:extLst>
                </a:gridCol>
                <a:gridCol w="6500000">
                  <a:extLst>
                    <a:ext uri="{9D8B030D-6E8A-4147-A177-3AD203B41FA5}">
                      <a16:colId xmlns:a16="http://schemas.microsoft.com/office/drawing/2014/main" val="20001"/>
                    </a:ext>
                  </a:extLst>
                </a:gridCol>
                <a:gridCol w="2000000">
                  <a:extLst>
                    <a:ext uri="{9D8B030D-6E8A-4147-A177-3AD203B41FA5}">
                      <a16:colId xmlns:a16="http://schemas.microsoft.com/office/drawing/2014/main" val="20002"/>
                    </a:ext>
                  </a:extLst>
                </a:gridCol>
              </a:tblGrid>
              <a:tr h="370000">
                <a:tc>
                  <a:txBody>
                    <a:bodyPr/>
                    <a:lstStyle/>
                    <a:p>
                      <a:r>
                        <a:rPr lang="en-US" sz="1400" b="1" dirty="0"/>
                        <a:t>Phase</a:t>
                      </a:r>
                    </a:p>
                  </a:txBody>
                  <a:tcPr>
                    <a:solidFill>
                      <a:srgbClr val="D9E2F3"/>
                    </a:solidFill>
                  </a:tcPr>
                </a:tc>
                <a:tc>
                  <a:txBody>
                    <a:bodyPr/>
                    <a:lstStyle/>
                    <a:p>
                      <a:r>
                        <a:rPr lang="en-US" sz="1400" b="1" dirty="0"/>
                        <a:t>Task</a:t>
                      </a:r>
                    </a:p>
                  </a:txBody>
                  <a:tcPr>
                    <a:solidFill>
                      <a:srgbClr val="D9E2F3"/>
                    </a:solidFill>
                  </a:tcPr>
                </a:tc>
                <a:tc>
                  <a:txBody>
                    <a:bodyPr/>
                    <a:lstStyle/>
                    <a:p>
                      <a:r>
                        <a:rPr lang="en-US" sz="1400" b="1" dirty="0"/>
                        <a:t>Duration</a:t>
                      </a:r>
                    </a:p>
                  </a:txBody>
                  <a:tcPr>
                    <a:solidFill>
                      <a:srgbClr val="D9E2F3"/>
                    </a:solidFill>
                  </a:tcPr>
                </a:tc>
                <a:extLst>
                  <a:ext uri="{0D108BD9-81ED-4DB2-BD59-A6C34878D82A}">
                    <a16:rowId xmlns:a16="http://schemas.microsoft.com/office/drawing/2014/main" val="10000"/>
                  </a:ext>
                </a:extLst>
              </a:tr>
              <a:tr h="450000">
                <a:tc>
                  <a:txBody>
                    <a:bodyPr/>
                    <a:lstStyle/>
                    <a:p>
                      <a:r>
                        <a:rPr lang="en-US" sz="1400" dirty="0"/>
                        <a:t>Phase 1</a:t>
                      </a:r>
                    </a:p>
                  </a:txBody>
                  <a:tcPr/>
                </a:tc>
                <a:tc>
                  <a:txBody>
                    <a:bodyPr/>
                    <a:lstStyle/>
                    <a:p>
                      <a:r>
                        <a:rPr lang="en-US" sz="1400" dirty="0"/>
                        <a:t>Data Collection &amp; Preprocessing</a:t>
                      </a:r>
                    </a:p>
                  </a:txBody>
                  <a:tcPr/>
                </a:tc>
                <a:tc>
                  <a:txBody>
                    <a:bodyPr/>
                    <a:lstStyle/>
                    <a:p>
                      <a:r>
                        <a:rPr lang="en-US" sz="1400" dirty="0"/>
                        <a:t>Weeks 1-2</a:t>
                      </a:r>
                    </a:p>
                  </a:txBody>
                  <a:tcPr/>
                </a:tc>
                <a:extLst>
                  <a:ext uri="{0D108BD9-81ED-4DB2-BD59-A6C34878D82A}">
                    <a16:rowId xmlns:a16="http://schemas.microsoft.com/office/drawing/2014/main" val="10001"/>
                  </a:ext>
                </a:extLst>
              </a:tr>
              <a:tr h="450000">
                <a:tc>
                  <a:txBody>
                    <a:bodyPr/>
                    <a:lstStyle/>
                    <a:p>
                      <a:r>
                        <a:rPr lang="en-US" sz="1400" dirty="0"/>
                        <a:t>Phase 2</a:t>
                      </a:r>
                    </a:p>
                  </a:txBody>
                  <a:tcPr/>
                </a:tc>
                <a:tc>
                  <a:txBody>
                    <a:bodyPr/>
                    <a:lstStyle/>
                    <a:p>
                      <a:r>
                        <a:rPr lang="en-US" sz="1400" dirty="0"/>
                        <a:t>Exploratory Data Analysis (EDA)</a:t>
                      </a:r>
                    </a:p>
                  </a:txBody>
                  <a:tcPr/>
                </a:tc>
                <a:tc>
                  <a:txBody>
                    <a:bodyPr/>
                    <a:lstStyle/>
                    <a:p>
                      <a:r>
                        <a:rPr lang="en-US" sz="1400" dirty="0"/>
                        <a:t>Weeks 3</a:t>
                      </a:r>
                    </a:p>
                  </a:txBody>
                  <a:tcPr/>
                </a:tc>
                <a:extLst>
                  <a:ext uri="{0D108BD9-81ED-4DB2-BD59-A6C34878D82A}">
                    <a16:rowId xmlns:a16="http://schemas.microsoft.com/office/drawing/2014/main" val="10002"/>
                  </a:ext>
                </a:extLst>
              </a:tr>
              <a:tr h="450000">
                <a:tc>
                  <a:txBody>
                    <a:bodyPr/>
                    <a:lstStyle/>
                    <a:p>
                      <a:r>
                        <a:rPr lang="en-US" sz="1400" dirty="0"/>
                        <a:t>Phase 3</a:t>
                      </a:r>
                    </a:p>
                  </a:txBody>
                  <a:tcPr/>
                </a:tc>
                <a:tc>
                  <a:txBody>
                    <a:bodyPr/>
                    <a:lstStyle/>
                    <a:p>
                      <a:r>
                        <a:rPr lang="en-US" sz="1400" dirty="0"/>
                        <a:t>Model Building (Linear Regression &amp; Random Forest)</a:t>
                      </a:r>
                    </a:p>
                  </a:txBody>
                  <a:tcPr/>
                </a:tc>
                <a:tc>
                  <a:txBody>
                    <a:bodyPr/>
                    <a:lstStyle/>
                    <a:p>
                      <a:r>
                        <a:rPr lang="en-US" sz="1400" dirty="0"/>
                        <a:t>Weeks 4</a:t>
                      </a:r>
                    </a:p>
                  </a:txBody>
                  <a:tcPr/>
                </a:tc>
                <a:extLst>
                  <a:ext uri="{0D108BD9-81ED-4DB2-BD59-A6C34878D82A}">
                    <a16:rowId xmlns:a16="http://schemas.microsoft.com/office/drawing/2014/main" val="10003"/>
                  </a:ext>
                </a:extLst>
              </a:tr>
              <a:tr h="450000">
                <a:tc>
                  <a:txBody>
                    <a:bodyPr/>
                    <a:lstStyle/>
                    <a:p>
                      <a:r>
                        <a:rPr lang="en-US" sz="1400" dirty="0"/>
                        <a:t>Phase 4</a:t>
                      </a:r>
                    </a:p>
                  </a:txBody>
                  <a:tcPr/>
                </a:tc>
                <a:tc>
                  <a:txBody>
                    <a:bodyPr/>
                    <a:lstStyle/>
                    <a:p>
                      <a:r>
                        <a:rPr lang="en-US" sz="1400" dirty="0"/>
                        <a:t>Model Evaluation &amp; Comparison (MSE, R²)</a:t>
                      </a:r>
                    </a:p>
                  </a:txBody>
                  <a:tcPr/>
                </a:tc>
                <a:tc>
                  <a:txBody>
                    <a:bodyPr/>
                    <a:lstStyle/>
                    <a:p>
                      <a:r>
                        <a:rPr lang="en-US" sz="1400" dirty="0"/>
                        <a:t>Week 5</a:t>
                      </a:r>
                    </a:p>
                  </a:txBody>
                  <a:tcPr/>
                </a:tc>
                <a:extLst>
                  <a:ext uri="{0D108BD9-81ED-4DB2-BD59-A6C34878D82A}">
                    <a16:rowId xmlns:a16="http://schemas.microsoft.com/office/drawing/2014/main" val="10004"/>
                  </a:ext>
                </a:extLst>
              </a:tr>
              <a:tr h="450000">
                <a:tc>
                  <a:txBody>
                    <a:bodyPr/>
                    <a:lstStyle/>
                    <a:p>
                      <a:r>
                        <a:rPr lang="en-US" sz="1400" dirty="0"/>
                        <a:t>Phase 5</a:t>
                      </a:r>
                    </a:p>
                  </a:txBody>
                  <a:tcPr/>
                </a:tc>
                <a:tc>
                  <a:txBody>
                    <a:bodyPr/>
                    <a:lstStyle/>
                    <a:p>
                      <a:r>
                        <a:rPr lang="en-US" sz="1400" dirty="0"/>
                        <a:t>Final System Integration &amp; Testing</a:t>
                      </a:r>
                    </a:p>
                  </a:txBody>
                  <a:tcPr/>
                </a:tc>
                <a:tc>
                  <a:txBody>
                    <a:bodyPr/>
                    <a:lstStyle/>
                    <a:p>
                      <a:r>
                        <a:rPr lang="en-US" sz="1400" dirty="0"/>
                        <a:t>Week 6</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1205</Words>
  <Application>Microsoft Office PowerPoint</Application>
  <PresentationFormat>Widescreen</PresentationFormat>
  <Paragraphs>123</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poojitha.gaddempally@outlook.com</cp:lastModifiedBy>
  <cp:revision>33</cp:revision>
  <dcterms:created xsi:type="dcterms:W3CDTF">2026-08-08T06:33:56Z</dcterms:created>
  <dcterms:modified xsi:type="dcterms:W3CDTF">2026-09-10T05:12:46Z</dcterms:modified>
</cp:coreProperties>
</file>